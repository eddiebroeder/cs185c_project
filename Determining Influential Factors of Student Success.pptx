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9" r:id="rId7"/>
    <p:sldId id="263" r:id="rId8"/>
    <p:sldId id="261" r:id="rId9"/>
    <p:sldId id="264" r:id="rId10"/>
    <p:sldId id="266" r:id="rId11"/>
    <p:sldId id="267" r:id="rId12"/>
    <p:sldId id="268" r:id="rId13"/>
    <p:sldId id="270" r:id="rId14"/>
    <p:sldId id="265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8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20" y="11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FCF5-2B69-4A2C-A664-7D917EFF6905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421FF-70D9-4E2C-829E-18ECC898C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96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FCF5-2B69-4A2C-A664-7D917EFF6905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421FF-70D9-4E2C-829E-18ECC898C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9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FCF5-2B69-4A2C-A664-7D917EFF6905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421FF-70D9-4E2C-829E-18ECC898C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FCF5-2B69-4A2C-A664-7D917EFF6905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421FF-70D9-4E2C-829E-18ECC898C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07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FCF5-2B69-4A2C-A664-7D917EFF6905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421FF-70D9-4E2C-829E-18ECC898C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6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FCF5-2B69-4A2C-A664-7D917EFF6905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421FF-70D9-4E2C-829E-18ECC898C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8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FCF5-2B69-4A2C-A664-7D917EFF6905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421FF-70D9-4E2C-829E-18ECC898C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9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FCF5-2B69-4A2C-A664-7D917EFF6905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421FF-70D9-4E2C-829E-18ECC898C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03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FCF5-2B69-4A2C-A664-7D917EFF6905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421FF-70D9-4E2C-829E-18ECC898C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69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FCF5-2B69-4A2C-A664-7D917EFF6905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421FF-70D9-4E2C-829E-18ECC898C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00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8FCF5-2B69-4A2C-A664-7D917EFF6905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421FF-70D9-4E2C-829E-18ECC898C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28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8FCF5-2B69-4A2C-A664-7D917EFF6905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421FF-70D9-4E2C-829E-18ECC898C5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57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de.ca.gov/ta/ac/ap/apidatafiles.asp" TargetMode="External"/><Relationship Id="rId3" Type="http://schemas.openxmlformats.org/officeDocument/2006/relationships/hyperlink" Target="https://star.cde.ca.gov/star2013/ResearchFileList.aspx?ps=true&amp;lstTestYear=2013&amp;lstTestType=C&amp;lstCounty=43&amp;lstDistrict=&amp;lstSchool=&amp;lstGroup=1&amp;lstSubGroup=1&amp;lstCntyNam=Santa%20Clara&amp;lstDistNam=(none%20selected)" TargetMode="External"/><Relationship Id="rId7" Type="http://schemas.openxmlformats.org/officeDocument/2006/relationships/hyperlink" Target="http://www3.cde.ca.gov/researchfiles/api/api13gtx.zip" TargetMode="External"/><Relationship Id="rId2" Type="http://schemas.openxmlformats.org/officeDocument/2006/relationships/hyperlink" Target="http://www3.cde.ca.gov/starresearchfiles/2013/p3/ca2013_1_csv_v3.zi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de.ca.gov/ds/si/ds/pubschls.asp" TargetMode="External"/><Relationship Id="rId5" Type="http://schemas.openxmlformats.org/officeDocument/2006/relationships/hyperlink" Target="https://dq.cde.ca.gov/dataquest/content.asp" TargetMode="External"/><Relationship Id="rId4" Type="http://schemas.openxmlformats.org/officeDocument/2006/relationships/hyperlink" Target="ftp://ftp.cde.ca.gov/demo/cbeds/cbedsora12a.txt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de.ca.gov/ta/ac/ap/documents/apiexecsummary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hyperlink" Target="http://www.geocurrents.info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hyperlink" Target="https://www.mapsofworld.com/usa/states/california/lat-long.html" TargetMode="Externa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Determining Influential Factors of Student Success in K-12 Schools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Edward Broeder</a:t>
            </a:r>
          </a:p>
        </p:txBody>
      </p:sp>
    </p:spTree>
    <p:extLst>
      <p:ext uri="{BB962C8B-B14F-4D97-AF65-F5344CB8AC3E}">
        <p14:creationId xmlns:p14="http://schemas.microsoft.com/office/powerpoint/2010/main" val="12036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2012-2013 Academic Year data from California K-12 charter and public schools, on the following topics</a:t>
            </a:r>
          </a:p>
          <a:p>
            <a:pPr lvl="1"/>
            <a:r>
              <a:rPr lang="en-US" sz="1600" dirty="0"/>
              <a:t>Academic Performance</a:t>
            </a:r>
          </a:p>
          <a:p>
            <a:pPr lvl="1"/>
            <a:r>
              <a:rPr lang="en-US" sz="1600" dirty="0"/>
              <a:t>Student/Staff Demographics</a:t>
            </a:r>
          </a:p>
          <a:p>
            <a:pPr lvl="1"/>
            <a:r>
              <a:rPr lang="en-US" sz="1600" dirty="0"/>
              <a:t>Parent/Teacher Education Levels</a:t>
            </a:r>
          </a:p>
          <a:p>
            <a:pPr lvl="1"/>
            <a:r>
              <a:rPr lang="en-US" sz="1600" dirty="0"/>
              <a:t>General School Information (location, </a:t>
            </a:r>
          </a:p>
          <a:p>
            <a:endParaRPr lang="en-US" sz="2000" b="1" dirty="0"/>
          </a:p>
          <a:p>
            <a:r>
              <a:rPr lang="en-US" sz="2000" b="1" dirty="0"/>
              <a:t>Original plan: </a:t>
            </a:r>
            <a:r>
              <a:rPr lang="en-US" sz="2000" dirty="0"/>
              <a:t>Use greatschools.org API to query for various datapoints on CA schools</a:t>
            </a:r>
          </a:p>
          <a:p>
            <a:pPr lvl="1"/>
            <a:r>
              <a:rPr lang="en-US" sz="1200" dirty="0"/>
              <a:t>Issue: unable to get API key in time</a:t>
            </a:r>
          </a:p>
          <a:p>
            <a:pPr marL="457200" lvl="1" indent="0">
              <a:buNone/>
            </a:pPr>
            <a:endParaRPr lang="en-US" sz="1200" dirty="0"/>
          </a:p>
          <a:p>
            <a:pPr marL="457200" lvl="1" indent="0">
              <a:buNone/>
            </a:pPr>
            <a:endParaRPr lang="en-US" sz="1200" dirty="0"/>
          </a:p>
          <a:p>
            <a:r>
              <a:rPr lang="en-US" sz="2000" b="1" dirty="0"/>
              <a:t>New and improved plan: </a:t>
            </a:r>
            <a:r>
              <a:rPr lang="en-US" sz="2000" dirty="0"/>
              <a:t>Download multiple datasets from CA government data portals, and correlate the various datapoints to build one large dataset to analyze.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94078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>
                <a:hlinkClick r:id="rId2"/>
              </a:rPr>
              <a:t>http://www3.cde.ca.gov/starresearchfiles/2013/p3/ca2013_1_csv_v3.zip</a:t>
            </a:r>
            <a:r>
              <a:rPr lang="en-US" sz="1400" dirty="0"/>
              <a:t> 344063 records - CA STAR testing results</a:t>
            </a:r>
          </a:p>
          <a:p>
            <a:pPr lvl="1"/>
            <a:r>
              <a:rPr lang="en-US" sz="1000" dirty="0">
                <a:hlinkClick r:id="rId3"/>
              </a:rPr>
              <a:t>https://star.cde.ca.gov/star2013/ResearchFileList.aspx?ps=true&amp;lstTestYear=2013&amp;lstTestType=C&amp;lstCounty=43&amp;lstDistrict=&amp;lstSchool=&amp;lstGroup=1&amp;lstSubGroup=1&amp;lstCntyNam=Santa%20Clara&amp;lstDistNam=(none%20selected)</a:t>
            </a:r>
            <a:r>
              <a:rPr lang="en-US" sz="1000" dirty="0"/>
              <a:t> </a:t>
            </a:r>
          </a:p>
          <a:p>
            <a:endParaRPr lang="en-US" sz="1400" dirty="0"/>
          </a:p>
          <a:p>
            <a:r>
              <a:rPr lang="en-US" sz="1400" dirty="0">
                <a:hlinkClick r:id="rId4"/>
              </a:rPr>
              <a:t>ftp://ftp.cde.ca.gov/demo/cbeds/cbedsora12a.txt</a:t>
            </a:r>
            <a:r>
              <a:rPr lang="en-US" sz="1400" dirty="0"/>
              <a:t> 45157 records (converted to csv) - staff demographics</a:t>
            </a:r>
          </a:p>
          <a:p>
            <a:endParaRPr lang="en-US" sz="1400" dirty="0"/>
          </a:p>
          <a:p>
            <a:r>
              <a:rPr lang="en-US" sz="1400" dirty="0">
                <a:hlinkClick r:id="rId5"/>
              </a:rPr>
              <a:t>https://dq.cde.ca.gov/dataquest/content.asp</a:t>
            </a:r>
            <a:r>
              <a:rPr lang="en-US" sz="1400" dirty="0"/>
              <a:t> 127113 records - enrollment demographics</a:t>
            </a:r>
          </a:p>
          <a:p>
            <a:endParaRPr lang="en-US" sz="1400" dirty="0"/>
          </a:p>
          <a:p>
            <a:r>
              <a:rPr lang="en-US" sz="1400" dirty="0">
                <a:hlinkClick r:id="rId6"/>
              </a:rPr>
              <a:t>https://www.cde.ca.gov/ds/si/ds/pubschls.asp</a:t>
            </a:r>
            <a:r>
              <a:rPr lang="en-US" sz="1400" dirty="0"/>
              <a:t> 17997 records - public school information</a:t>
            </a:r>
          </a:p>
          <a:p>
            <a:endParaRPr lang="en-US" sz="1400" dirty="0"/>
          </a:p>
          <a:p>
            <a:r>
              <a:rPr lang="en-US" sz="1400" dirty="0">
                <a:hlinkClick r:id="rId7"/>
              </a:rPr>
              <a:t>http://www3.cde.ca.gov/researchfiles/api/api13gtx.zip</a:t>
            </a:r>
            <a:r>
              <a:rPr lang="en-US" sz="1400" dirty="0"/>
              <a:t> 10946 records - Academic Performance Index (API) </a:t>
            </a:r>
          </a:p>
          <a:p>
            <a:pPr lvl="1"/>
            <a:r>
              <a:rPr lang="en-US" sz="1000" dirty="0"/>
              <a:t> </a:t>
            </a:r>
            <a:r>
              <a:rPr lang="en-US" sz="1000" dirty="0">
                <a:hlinkClick r:id="rId8"/>
              </a:rPr>
              <a:t>https://www.cde.ca.gov/ta/ac/ap/apidatafiles.asp</a:t>
            </a:r>
            <a:r>
              <a:rPr lang="en-US" sz="1000" dirty="0"/>
              <a:t> </a:t>
            </a:r>
          </a:p>
          <a:p>
            <a:endParaRPr lang="en-US" sz="1400" dirty="0"/>
          </a:p>
          <a:p>
            <a:r>
              <a:rPr lang="en-US" sz="1400" dirty="0"/>
              <a:t>Total Records: 545,276, over </a:t>
            </a:r>
            <a:r>
              <a:rPr lang="en-US" sz="1400"/>
              <a:t>200 fields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07959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Increased parent education levels would correlate with a higher student performance index</a:t>
            </a:r>
          </a:p>
          <a:p>
            <a:endParaRPr lang="en-US" dirty="0"/>
          </a:p>
          <a:p>
            <a:r>
              <a:rPr lang="en-US" dirty="0"/>
              <a:t>Increased percentage of emergency-credential holding teachers would correlate with a lower student performance index</a:t>
            </a:r>
          </a:p>
          <a:p>
            <a:endParaRPr lang="en-US" dirty="0"/>
          </a:p>
          <a:p>
            <a:r>
              <a:rPr lang="en-US" dirty="0"/>
              <a:t>Student performance would be greater in highly-populated regions compared to rural regions</a:t>
            </a:r>
          </a:p>
        </p:txBody>
      </p:sp>
    </p:spTree>
    <p:extLst>
      <p:ext uri="{BB962C8B-B14F-4D97-AF65-F5344CB8AC3E}">
        <p14:creationId xmlns:p14="http://schemas.microsoft.com/office/powerpoint/2010/main" val="261092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Tools, Algorithms, Difficulties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Tools used:</a:t>
            </a:r>
          </a:p>
          <a:p>
            <a:pPr lvl="1"/>
            <a:r>
              <a:rPr lang="en-US" sz="2000" dirty="0"/>
              <a:t>Perl – </a:t>
            </a:r>
            <a:r>
              <a:rPr lang="en-US" sz="1400" dirty="0"/>
              <a:t>Practical Extraction and Reporting Language</a:t>
            </a:r>
          </a:p>
          <a:p>
            <a:pPr lvl="1"/>
            <a:r>
              <a:rPr lang="en-US" sz="2000" dirty="0" err="1"/>
              <a:t>gnuplot</a:t>
            </a:r>
            <a:r>
              <a:rPr lang="en-US" sz="2000" dirty="0"/>
              <a:t> – </a:t>
            </a:r>
            <a:r>
              <a:rPr lang="en-US" sz="1400" dirty="0"/>
              <a:t>An interactive plotting program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r>
              <a:rPr lang="en-US" sz="1800" dirty="0"/>
              <a:t>Difficulties:</a:t>
            </a:r>
          </a:p>
          <a:p>
            <a:pPr lvl="1"/>
            <a:r>
              <a:rPr lang="en-US" sz="1400" dirty="0"/>
              <a:t>Bad data: Missing values or unexpected format of data (required data filtering and validations using regular expressions)</a:t>
            </a:r>
          </a:p>
          <a:p>
            <a:pPr lvl="1"/>
            <a:r>
              <a:rPr lang="en-US" sz="1400" dirty="0"/>
              <a:t>Analysis method: It can be hard to figure out exactly which datapoints to compare, and how to visualize the data</a:t>
            </a:r>
          </a:p>
          <a:p>
            <a:pPr lvl="1"/>
            <a:endParaRPr lang="en-US" sz="1400" dirty="0"/>
          </a:p>
          <a:p>
            <a:pPr lvl="1"/>
            <a:endParaRPr lang="en-US" sz="1400" dirty="0"/>
          </a:p>
          <a:p>
            <a:r>
              <a:rPr lang="en-US" sz="1800" dirty="0"/>
              <a:t>Benefits:</a:t>
            </a:r>
          </a:p>
          <a:p>
            <a:pPr lvl="1"/>
            <a:r>
              <a:rPr lang="en-US" sz="1400" dirty="0"/>
              <a:t>Simplicity: As per Professor Chen’s suggestion early in the semester, use only what is necessary for the task</a:t>
            </a:r>
          </a:p>
          <a:p>
            <a:pPr lvl="1"/>
            <a:r>
              <a:rPr lang="en-US" sz="1400" dirty="0"/>
              <a:t>Availability: Perl and </a:t>
            </a:r>
            <a:r>
              <a:rPr lang="en-US" sz="1400" dirty="0" err="1"/>
              <a:t>gnuplot</a:t>
            </a:r>
            <a:r>
              <a:rPr lang="en-US" sz="1400" dirty="0"/>
              <a:t> are likely already installed on your Linux machine</a:t>
            </a:r>
          </a:p>
        </p:txBody>
      </p:sp>
    </p:spTree>
    <p:extLst>
      <p:ext uri="{BB962C8B-B14F-4D97-AF65-F5344CB8AC3E}">
        <p14:creationId xmlns:p14="http://schemas.microsoft.com/office/powerpoint/2010/main" val="1406637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89A57-C56E-4470-A13F-3513A954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Tools, Algorithms, Difficulties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0A863-6D2C-42E4-93B3-D5A238176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Implementation:</a:t>
            </a:r>
          </a:p>
          <a:p>
            <a:pPr lvl="1"/>
            <a:r>
              <a:rPr lang="en-US" sz="1800" dirty="0"/>
              <a:t>Data is read into memory (a Perl hash) from 5 text files, totaling ~550K lines</a:t>
            </a:r>
          </a:p>
          <a:p>
            <a:pPr marL="457200" lvl="1" indent="0">
              <a:buNone/>
            </a:pPr>
            <a:endParaRPr lang="en-US" sz="1800" dirty="0"/>
          </a:p>
          <a:p>
            <a:pPr lvl="1"/>
            <a:r>
              <a:rPr lang="en-US" sz="1800" dirty="0"/>
              <a:t>A data cache is kept in the working directory (to speed up future runs) in the form of a Perl Storable</a:t>
            </a:r>
          </a:p>
          <a:p>
            <a:pPr marL="457200" lvl="1" indent="0">
              <a:buNone/>
            </a:pPr>
            <a:endParaRPr lang="en-US" sz="1800" dirty="0"/>
          </a:p>
          <a:p>
            <a:pPr lvl="1"/>
            <a:r>
              <a:rPr lang="en-US" sz="1800" dirty="0"/>
              <a:t>The program has functionality to print a full dump of the combined data</a:t>
            </a:r>
          </a:p>
          <a:p>
            <a:pPr marL="457200" lvl="1" indent="0">
              <a:buNone/>
            </a:pPr>
            <a:endParaRPr lang="en-US" sz="1800" dirty="0"/>
          </a:p>
          <a:p>
            <a:pPr lvl="1"/>
            <a:r>
              <a:rPr lang="en-US" sz="1800" dirty="0"/>
              <a:t>The primary function is to plot user-specified data fields in user-specified formats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Data is filtered and validated using regular expressions, to help ensure integrity and remove bad values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The tool is built in a modular fashion, so new fields and data sources can be easily added</a:t>
            </a:r>
          </a:p>
        </p:txBody>
      </p:sp>
    </p:spTree>
    <p:extLst>
      <p:ext uri="{BB962C8B-B14F-4D97-AF65-F5344CB8AC3E}">
        <p14:creationId xmlns:p14="http://schemas.microsoft.com/office/powerpoint/2010/main" val="1055830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79C78-6BEE-4CF5-916D-CA07EAAFC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EBACC-512D-441C-8C26-9E4611DCA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But not the API you’re thinking of…</a:t>
            </a:r>
          </a:p>
          <a:p>
            <a:endParaRPr lang="en-US" dirty="0"/>
          </a:p>
          <a:p>
            <a:r>
              <a:rPr lang="en-US" sz="2400" b="1" dirty="0"/>
              <a:t>A</a:t>
            </a:r>
            <a:r>
              <a:rPr lang="en-US" sz="2400" dirty="0"/>
              <a:t>cademic </a:t>
            </a:r>
            <a:r>
              <a:rPr lang="en-US" sz="2400" b="1" dirty="0"/>
              <a:t>P</a:t>
            </a:r>
            <a:r>
              <a:rPr lang="en-US" sz="2400" dirty="0"/>
              <a:t>erformance </a:t>
            </a:r>
            <a:r>
              <a:rPr lang="en-US" sz="2400" b="1" dirty="0"/>
              <a:t>I</a:t>
            </a:r>
            <a:r>
              <a:rPr lang="en-US" sz="2400" dirty="0"/>
              <a:t>ndex : </a:t>
            </a:r>
            <a:r>
              <a:rPr lang="en-US" sz="2000" dirty="0"/>
              <a:t>The API is a single number, ranging from a low of 200 to a high of 1000, which reflects a school’s or a student group’s performance level, based on the results of statewide assessments. </a:t>
            </a:r>
          </a:p>
          <a:p>
            <a:pPr lvl="1"/>
            <a:r>
              <a:rPr lang="en-US" sz="1400" dirty="0"/>
              <a:t>Source: </a:t>
            </a:r>
            <a:r>
              <a:rPr lang="en-US" sz="1400" dirty="0">
                <a:hlinkClick r:id="rId2"/>
              </a:rPr>
              <a:t>https://www.cde.ca.gov/ta/ac/ap/documents/apiexecsummary.pdf</a:t>
            </a:r>
            <a:r>
              <a:rPr lang="en-US" sz="1400" dirty="0"/>
              <a:t> </a:t>
            </a:r>
          </a:p>
          <a:p>
            <a:pPr lvl="1"/>
            <a:endParaRPr lang="en-US" sz="1400" dirty="0"/>
          </a:p>
          <a:p>
            <a:pPr lvl="1"/>
            <a:endParaRPr lang="en-US" sz="1600" dirty="0"/>
          </a:p>
          <a:p>
            <a:r>
              <a:rPr lang="en-US" sz="2400" dirty="0"/>
              <a:t>API scores were compared against various datapoints to attempt to discern any factors that may influence student academic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539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655553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B1BF-4BFE-480B-8C6A-17809274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800" dirty="0"/>
              <a:t>API vs. Average Parent Education (years)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305B74-29F4-4CD6-A421-930473946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641202"/>
            <a:ext cx="5317012" cy="3291840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658C8F7E-DBDE-4ECA-9669-9D0AB882D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1" y="1641202"/>
            <a:ext cx="4749252" cy="3367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245950-FD5C-4F49-8ABB-0EFA73125E83}"/>
              </a:ext>
            </a:extLst>
          </p:cNvPr>
          <p:cNvSpPr txBox="1"/>
          <p:nvPr/>
        </p:nvSpPr>
        <p:spPr>
          <a:xfrm>
            <a:off x="1622146" y="5787958"/>
            <a:ext cx="8947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Findings: Positive correlation between average parent education and student performance</a:t>
            </a:r>
          </a:p>
        </p:txBody>
      </p:sp>
    </p:spTree>
    <p:extLst>
      <p:ext uri="{BB962C8B-B14F-4D97-AF65-F5344CB8AC3E}">
        <p14:creationId xmlns:p14="http://schemas.microsoft.com/office/powerpoint/2010/main" val="3578616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6B29-C850-418F-AD86-A8D8D2072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800" dirty="0"/>
              <a:t>API vs. Percent of Emergency Credentialed Teachers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F325A1-3790-446B-AAD5-412BA5F07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468" y="1535026"/>
            <a:ext cx="5327332" cy="37519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A8CAF2-FE8E-40DF-B3D4-48751ACD3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634" y="1535026"/>
            <a:ext cx="5417420" cy="38484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A3D0886-CAF3-4E68-BC68-607B919084C4}"/>
              </a:ext>
            </a:extLst>
          </p:cNvPr>
          <p:cNvSpPr/>
          <p:nvPr/>
        </p:nvSpPr>
        <p:spPr>
          <a:xfrm>
            <a:off x="376136" y="5980359"/>
            <a:ext cx="114397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Findings: No apparent correlation between percent of emergency credentialed teachers and student performance</a:t>
            </a:r>
          </a:p>
        </p:txBody>
      </p:sp>
    </p:spTree>
    <p:extLst>
      <p:ext uri="{BB962C8B-B14F-4D97-AF65-F5344CB8AC3E}">
        <p14:creationId xmlns:p14="http://schemas.microsoft.com/office/powerpoint/2010/main" val="551201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7D6F9-5C5F-47A1-93AE-C9803246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800" dirty="0"/>
              <a:t>API vs. Geographical Latitude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399905-25E6-4D25-8D91-D537F6E69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18" y="3456359"/>
            <a:ext cx="3219642" cy="22756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81C033-8B5E-4AC8-B29D-D5A018C28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95" y="1202035"/>
            <a:ext cx="3085289" cy="21996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A92B10-B96B-4165-AFC5-7705522EA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799" y="1345680"/>
            <a:ext cx="4310586" cy="389718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2F58137-F1DA-46A1-A6DC-01DA8D55AF0B}"/>
              </a:ext>
            </a:extLst>
          </p:cNvPr>
          <p:cNvSpPr/>
          <p:nvPr/>
        </p:nvSpPr>
        <p:spPr>
          <a:xfrm>
            <a:off x="193195" y="5885422"/>
            <a:ext cx="113229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Findings: There appears to be a positive correlation between certain (33, 34, 37-38) latitudes and student performance. This may be related to the higher population density in the bay area (37-38) and LA area (34). It also may be related to increased property taxes in more expensive areas, as property taxes are often used to fund schools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6E6D0B-2973-4C47-A1DC-7B78AA853EE8}"/>
              </a:ext>
            </a:extLst>
          </p:cNvPr>
          <p:cNvSpPr txBox="1"/>
          <p:nvPr/>
        </p:nvSpPr>
        <p:spPr>
          <a:xfrm>
            <a:off x="3559512" y="5266099"/>
            <a:ext cx="50729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>
                <a:hlinkClick r:id="rId5"/>
              </a:rPr>
              <a:t>https://www.mapsofworld.com/usa/states/california/lat-long.html</a:t>
            </a:r>
            <a:r>
              <a:rPr lang="en-US" sz="1000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A104A0-9EA2-4036-B6EF-28915C6CDA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0330" y="1577968"/>
            <a:ext cx="3575053" cy="366489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F8191E6-56A0-4D2A-A325-77CDD78EDBBB}"/>
              </a:ext>
            </a:extLst>
          </p:cNvPr>
          <p:cNvSpPr/>
          <p:nvPr/>
        </p:nvSpPr>
        <p:spPr>
          <a:xfrm>
            <a:off x="8101519" y="5256704"/>
            <a:ext cx="23508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Source: </a:t>
            </a:r>
            <a:r>
              <a:rPr lang="en-US" sz="1000" dirty="0">
                <a:hlinkClick r:id="rId7"/>
              </a:rPr>
              <a:t>http://www.geocurrents.info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04711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4A17C-E2B7-440B-B5D5-6DF3EDAE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Hypothesis – Tested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6EA0E-DC87-4B7D-B530-DCB9E3BC4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Increased parent education levels would correlate with a higher student performance index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TRUE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strike="sngStrike" dirty="0"/>
              <a:t>Increased percentage of emergency-credential holding teachers would correlate with a lower student performance index</a:t>
            </a:r>
            <a:r>
              <a:rPr lang="en-US" dirty="0"/>
              <a:t>  </a:t>
            </a:r>
            <a:r>
              <a:rPr lang="en-US" b="1" dirty="0">
                <a:solidFill>
                  <a:srgbClr val="C00000"/>
                </a:solidFill>
              </a:rPr>
              <a:t>FALSE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  <a:p>
            <a:r>
              <a:rPr lang="en-US" dirty="0"/>
              <a:t>Student performance would be greater in highly-populated regions compared to rural regions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TRUE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42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F4A13-BB91-4D85-A272-54953679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945D1-0F80-49E2-9F98-D9AEDEA09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E3E065-6BEF-4152-9BEE-BAC5FAAD3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828"/>
            <a:ext cx="12192000" cy="647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318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6759F-2A91-4C8A-ABC9-AE4580EA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1"/>
            <a:ext cx="10515600" cy="1389016"/>
          </a:xfrm>
        </p:spPr>
        <p:txBody>
          <a:bodyPr/>
          <a:lstStyle/>
          <a:p>
            <a:r>
              <a:rPr lang="en-US" dirty="0"/>
              <a:t>Example Usage: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8D524-6A0C-4802-A2E8-09B128126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1EAC3-F00A-4294-8180-D0E8DEAC8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10" y="1056066"/>
            <a:ext cx="11599817" cy="580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879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A2DC-A472-4C73-85F4-8073EB4B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156494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</TotalTime>
  <Words>851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Determining Influential Factors of Student Success in K-12 Schools</vt:lpstr>
      <vt:lpstr>Data Set</vt:lpstr>
      <vt:lpstr>Data Sources</vt:lpstr>
      <vt:lpstr>Hypothesis</vt:lpstr>
      <vt:lpstr>Tools, Algorithms, Difficulties</vt:lpstr>
      <vt:lpstr>Tools, Algorithms, Difficulties cont.</vt:lpstr>
      <vt:lpstr>API</vt:lpstr>
      <vt:lpstr>Results</vt:lpstr>
      <vt:lpstr>API vs. Average Parent Education (years)</vt:lpstr>
      <vt:lpstr>API vs. Percent of Emergency Credentialed Teachers</vt:lpstr>
      <vt:lpstr>API vs. Geographical Latitude</vt:lpstr>
      <vt:lpstr>Hypothesis – Tested</vt:lpstr>
      <vt:lpstr>PowerPoint Presentation</vt:lpstr>
      <vt:lpstr>Example Usage:</vt:lpstr>
      <vt:lpstr>The End</vt:lpstr>
    </vt:vector>
  </TitlesOfParts>
  <Company>Intel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Determining Influential Factors of Student Success …something</dc:title>
  <dc:creator>Broeder, Edward M</dc:creator>
  <cp:keywords>CTPClassification=CTP_NT</cp:keywords>
  <cp:lastModifiedBy>Eddie</cp:lastModifiedBy>
  <cp:revision>35</cp:revision>
  <dcterms:created xsi:type="dcterms:W3CDTF">2018-11-27T03:17:38Z</dcterms:created>
  <dcterms:modified xsi:type="dcterms:W3CDTF">2018-12-04T02:26:04Z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c061a534-d891-451d-80e6-b294097ee093</vt:lpwstr>
  </property>
  <property fmtid="{D5CDD505-2E9C-101B-9397-08002B2CF9AE}" pid="3" name="CTP_TimeStamp">
    <vt:lpwstr>2018-11-27 04:08:34Z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